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II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Review – Practice &amp; Assignment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 ·  Lab 1  ·  Lab 2  ·  Lab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Bibawandaogo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43708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ESIEE Paris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setup · CSV → Parquet · Execution plans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19202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16642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3774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· Windowed agg · Parquet sink · Checkpoint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05840"/>
            <a:ext cx="192024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16642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 · Tokenization · Parquet vs CSV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00584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1005840"/>
            <a:ext cx="192024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16642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(KMeans)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23774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· Partitioning strategies · Convergence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l'environnement Spark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· Objectif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Valider que Spark fonctionne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 lycéen qui branche son ordi avant de commencer : on vérifie que tout marche avant d'aller plus loin.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8760" y="257860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session Spark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moteur de traitement distribué en local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2514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257860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36168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01568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CSV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3749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des données avec un schéma explicite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2514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14616" y="257860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214616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54496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en Parquet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3749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les données dans un format optimisé et partitionné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·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→  Spark DataFrame  →  Parquet (partitionné)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01168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6916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data/sample.csv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04872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06040" y="1691640"/>
            <a:ext cx="201168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6916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local[*]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5152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00600" y="1691640"/>
            <a:ext cx="201168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916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lignes · 4 cols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39712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995160" y="1691640"/>
            <a:ext cx="201168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6916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partitionné/category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clés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34930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30352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CSV chargées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34290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79192" y="34930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679192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(tech, science, business)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4290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28032" y="34930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828032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scan: lecture complète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34290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76872" y="34930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76872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scan: lecture colonnaire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· Résultats &amp; Leçons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 qui a fonctionné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Spark version 4.0.1 opérationnel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6712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Lecture CSV avec schéma explicite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Écriture Parquet partitionné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5584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Plan d'exécution différent CSV vs Parquet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5020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Agrégation groupBy + avg par catégorie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06240" cy="393192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Leçon principale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1572768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est colonnaire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ne lit que les colonnes nécessaires.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lit TOUT le fichier même si on n'utilise qu'une colonne.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visible dans le plan d'exécution.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 données en temps réel avec Spark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Objectif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Traiter des événements EN TEMPS RÉEL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 score de match qui se met à jour en direct : on agrège les données au fur et à mesure qu'elles arrivent.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877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Watermark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 les données tardives jusqu'à X minutes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25146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5877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 Fenêtre temporelle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 les événements par intervalles (10 min, 5 min)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Checkpoint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l'état → reprise après panne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8404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Mode Append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N'écrit que les nouvelles lignes → compatible Parquet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Architecture du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69164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4173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84248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169164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4173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58768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023360" y="1371600"/>
            <a:ext cx="169164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4173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33288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852160" y="1371600"/>
            <a:ext cx="169164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14173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count/avg/min/max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62088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80960" y="1371600"/>
            <a:ext cx="1691640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14173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859536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53288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Checkpoint actif → Garantit la livraison exactement une fois (exactly-once semantics)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12724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testées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123444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593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54480" y="3566160"/>
            <a:ext cx="160020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600200" y="3593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566160"/>
            <a:ext cx="160020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3593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566160"/>
            <a:ext cx="160020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593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566160"/>
            <a:ext cx="160020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593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123444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40507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554480" y="4023360"/>
            <a:ext cx="160020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4" name="Text 32"/>
          <p:cNvSpPr/>
          <p:nvPr/>
        </p:nvSpPr>
        <p:spPr>
          <a:xfrm>
            <a:off x="1600200" y="40507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0" y="4023360"/>
            <a:ext cx="160020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6" name="Text 34"/>
          <p:cNvSpPr/>
          <p:nvPr/>
        </p:nvSpPr>
        <p:spPr>
          <a:xfrm>
            <a:off x="3246120" y="40507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37760" y="4023360"/>
            <a:ext cx="160020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40507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0" y="4023360"/>
            <a:ext cx="160020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40507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plus haute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4480560"/>
            <a:ext cx="123444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45079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554480" y="4480560"/>
            <a:ext cx="160020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4" name="Text 42"/>
          <p:cNvSpPr/>
          <p:nvPr/>
        </p:nvSpPr>
        <p:spPr>
          <a:xfrm>
            <a:off x="1600200" y="4507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0" y="4480560"/>
            <a:ext cx="160020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6" name="Text 44"/>
          <p:cNvSpPr/>
          <p:nvPr/>
        </p:nvSpPr>
        <p:spPr>
          <a:xfrm>
            <a:off x="3246120" y="4507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937760" y="4480560"/>
            <a:ext cx="160020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8" name="Text 46"/>
          <p:cNvSpPr/>
          <p:nvPr/>
        </p:nvSpPr>
        <p:spPr>
          <a:xfrm>
            <a:off x="4983480" y="4507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675120" y="4480560"/>
            <a:ext cx="160020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50" name="Text 48"/>
          <p:cNvSpPr/>
          <p:nvPr/>
        </p:nvSpPr>
        <p:spPr>
          <a:xfrm>
            <a:off x="6720840" y="4507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de latence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Practice vs Assignment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Track A (Esports)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Schema: match_id, match_end_time,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game_type, winning_team, spectators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Window: 1 heure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511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Watermark: 10 minutes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 fichiers JSON générés (50 events)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753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Query UI capturée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87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Metrics: 5 rows input, 2441 ms batch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60120"/>
            <a:ext cx="4114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Generic Events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5270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Schema: event_id, event_time,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event_type, user_id, 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039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Window: 10 min → 5 min (optimisé)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5511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Watermark: 5 min → 2 min (optimisé)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Trigger: 5 sec → 3 sec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5753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Plan d'exécution sauvegardé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4087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lab1_metrics_log.csv produit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Résultats &amp; Problèmes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micro-batches traités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87752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générés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60120"/>
            <a:ext cx="19659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718304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(optimisé)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57416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57416" y="960120"/>
            <a:ext cx="19659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848856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48856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créés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&amp; Solutions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0815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Stream vide au début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30815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Laisser awaitTermination(60) avant stop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69417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7398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Mode 'complete' refusé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37398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Utiliser 'append' avec watermark + Parquet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52544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39826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UUID non sérialisable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3982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Conversion str(uuid) avant json.dump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 · Tokenisation · Stockage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Objectif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Construire un moteur de recherche full-text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Google : pour chercher un mot, on a besoin de savoir dans quels documents il apparaît → c'est l'index inversé.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59152"/>
            <a:ext cx="8412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4505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Inversé = mot → liste de documents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64592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992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2971800"/>
            <a:ext cx="502920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29992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2360" y="2971800"/>
            <a:ext cx="109728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29992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64592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56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31720" y="3429000"/>
            <a:ext cx="502920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34564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doc_001, doc_002, doc_003, doc_004, doc_005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52360" y="3429000"/>
            <a:ext cx="109728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34564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9136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31720" y="3886200"/>
            <a:ext cx="50292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39136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doc_002, doc_004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52360" y="3886200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39136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164592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370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31720" y="4343400"/>
            <a:ext cx="502920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9" name="Text 27"/>
          <p:cNvSpPr/>
          <p:nvPr/>
        </p:nvSpPr>
        <p:spPr>
          <a:xfrm>
            <a:off x="2377440" y="43708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doc_001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52360" y="4343400"/>
            <a:ext cx="109728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43708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Pipeline de traitement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155448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01752" y="10241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" y="1691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docs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93392" y="1005840"/>
            <a:ext cx="1554480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2039112" y="10241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Ponctuation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39112" y="1691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texte propre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30752" y="1005840"/>
            <a:ext cx="15544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776472" y="10241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split(whitespace)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1691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[tokens]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68112" y="1005840"/>
            <a:ext cx="155448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513832" y="10241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Stop-words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13832" y="1691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mots filtrés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05472" y="1005840"/>
            <a:ext cx="1554480" cy="10972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51192" y="10241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51192" y="1691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collect_list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377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Parquet vs CSV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4114800" cy="2011680"/>
          </a:xfrm>
          <a:prstGeom prst="rect">
            <a:avLst/>
          </a:prstGeom>
          <a:solidFill>
            <a:srgbClr val="FAF5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80360"/>
            <a:ext cx="411480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Format binaire colonnaire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Garde le type ARRAY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Taille : 1.51 KB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Lecture rapide par Spark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880360"/>
            <a:ext cx="4114800" cy="20116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880360"/>
            <a:ext cx="411480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Texte lisible (Excel, éditeur)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doc_ids →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Taille : 0.57 KB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Portable mais plus lent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Practice vs Assignment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Le Petit Prince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 documents (corpus littéraire)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91 termes uniques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129 tokens avant filtrage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626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 stop-words (fichiers manquants)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381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Parquet : 2.10 KB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CSV : 1.62 KB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Latence query : ~58ms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4114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Corpus Esports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536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documents (thème Esports)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28 termes uniques après filtre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487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33 tokens filtrés / 44 bruts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9626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56 stop-words définis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4381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Parquet : 1.51 KB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CSV : 0.57 KB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Latence avg : 243ms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Résultats &amp; Problèmes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termes uniques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960120"/>
            <a:ext cx="19659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87752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stop-words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 KB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18304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Parquet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57416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57416" y="960120"/>
            <a:ext cx="196596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848856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243ms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48856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query avg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&amp; Solutions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0815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Array non écrivable en CSV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0815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concat_ws(',', col) pour convertir array → string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69417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7398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Stop-words non chargés (fichiers manquants)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37398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Fallback sur liste hardcodée de 56 mots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52544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3982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Latence première requête ~400ms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43982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Warm-up + cache : idx.cache().count() avant queries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distribué · Partitioning · Convergence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Objectif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Regrouper automatiquement des données sans étiquettes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classer des joueurs en catégories (support, carry, tank) sans les étiqueter à la main : KMeans trouve les groupes seul.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19659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33272" y="2487168"/>
            <a:ext cx="621792" cy="6217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8912" y="32186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Initialiser k centres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379476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k-means|| pour éviter les optima locaux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0008" y="2880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96312" y="2423160"/>
            <a:ext cx="19659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2487168"/>
            <a:ext cx="621792" cy="6217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163824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9464" y="32186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Assigner chaque point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9464" y="379476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centre le plus proche (distance euclidienne)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880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26864" y="2423160"/>
            <a:ext cx="19659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94376" y="2487168"/>
            <a:ext cx="621792" cy="6217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294376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00016" y="32186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Recalculer les centres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0016" y="379476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points de chaque cluster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1112" y="2880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57416" y="2423160"/>
            <a:ext cx="19659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24928" y="2487168"/>
            <a:ext cx="621792" cy="6217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7424928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30568" y="32186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Répéter jusqu'à convergence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30568" y="379476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centres &lt; tolérance OU maxIter atteint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Pipeline ML distribué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Track A Esports : 10 000 points · 5 features (hero stats) · 3 clusters synthétiques bien séparés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155448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7830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47088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1680" y="1783080"/>
            <a:ext cx="155448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17830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84448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49040" y="1783080"/>
            <a:ext cx="1554480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17830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21808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0" y="1783080"/>
            <a:ext cx="155448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17830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59168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23760" y="1783080"/>
            <a:ext cx="1554480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17830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9077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partitionnement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401568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01568"/>
            <a:ext cx="411480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472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8 partitions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886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RoundRobin · Shuffle: ~52 MB · Temps: 145 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44568" y="3794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−17.8%  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401568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401568"/>
            <a:ext cx="4114800" cy="4023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4472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· 32 partitions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886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Hash(id) · Shuffle: ~42 MB · Temps: 119 ms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Résultats clustering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Meilleure configuration : KMeans  k=3  ·  Silhouette = 0.9797  ·  Inertia = 739.03  ·  Temps = 5750 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Silhouette par 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01173"/>
            <a:ext cx="731520" cy="929579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09733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2566163"/>
            <a:ext cx="731520" cy="1164589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3794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474723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2867741"/>
            <a:ext cx="731520" cy="86301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3794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776301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2871307"/>
            <a:ext cx="731520" cy="85944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3794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779867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0574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des seeds (k=3)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487168"/>
            <a:ext cx="1298448" cy="4023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523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2487168"/>
            <a:ext cx="1298448" cy="4023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2523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2487168"/>
            <a:ext cx="1298448" cy="4023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7360920" y="2523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(ms)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907792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94436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2907792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294436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2907792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920" y="294436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328416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36499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3328416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336499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3328416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360920" y="336499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3749040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378561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89320" y="3749040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1" name="Text 39"/>
          <p:cNvSpPr/>
          <p:nvPr/>
        </p:nvSpPr>
        <p:spPr>
          <a:xfrm>
            <a:off x="6035040" y="378561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15200" y="3749040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3" name="Text 41"/>
          <p:cNvSpPr/>
          <p:nvPr/>
        </p:nvSpPr>
        <p:spPr>
          <a:xfrm>
            <a:off x="7360920" y="378561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3838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63440" y="4169664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709160" y="420624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89320" y="4169664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035040" y="420624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15200" y="4169664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360920" y="420624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63440" y="4590288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1" name="Text 49"/>
          <p:cNvSpPr/>
          <p:nvPr/>
        </p:nvSpPr>
        <p:spPr>
          <a:xfrm>
            <a:off x="4709160" y="462686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989320" y="4590288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3" name="Text 51"/>
          <p:cNvSpPr/>
          <p:nvPr/>
        </p:nvSpPr>
        <p:spPr>
          <a:xfrm>
            <a:off x="6035040" y="462686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15200" y="4590288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5" name="Text 53"/>
          <p:cNvSpPr/>
          <p:nvPr/>
        </p:nvSpPr>
        <p:spPr>
          <a:xfrm>
            <a:off x="7360920" y="462686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3736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663440" y="44622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0.00%  ·  Résultats parfaitement stables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Practice vs Assignment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5 000 points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Algo: KMeans + BisectingKMeans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 values: 3, 5, 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Best: KMeans k=3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626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Silhouette: 0.8234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381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seeds (42-46) · CV = 0.13%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Partitions: 8 → 32 (+300%)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Speedup: 1.22x (−17.8%)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4114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10 000 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536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Algo: KMeans uniquement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 values: 2, 3, 4,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487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Best: KMeans k=3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9626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Silhouette: 0.9797 (!)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4381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seeds · Silhouette identique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Partitions: 12 → 32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k=3 converge parfaitement (3 clusters)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Résultats &amp; Problèmes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960120"/>
            <a:ext cx="19659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−17.8%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87752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d'exécution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−19.2%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18304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réduit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57416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57416" y="960120"/>
            <a:ext cx="19659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848856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48856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stabilité seeds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&amp; Solutions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0815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computeCost() introuvable (Spark 4)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0815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Fonction custom calculate_inertia() via RDD.map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69417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7398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UDT Vector non écrivable en CSV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37398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Écriture en Parquet uniquement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52544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3982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OutOfMemory sur grands datasets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43982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Réduire n_samples ou augmenter driver.memory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· Les 4 Labs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77724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875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960120"/>
            <a:ext cx="16002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875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960120"/>
            <a:ext cx="16002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9875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960120"/>
            <a:ext cx="187452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987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960120"/>
            <a:ext cx="260604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987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clé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417320"/>
            <a:ext cx="77724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444752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1417320"/>
            <a:ext cx="16002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144475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+ Parquet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1417320"/>
            <a:ext cx="16002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144475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lignes CSV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1417320"/>
            <a:ext cx="187452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1444752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+ Explain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417320"/>
            <a:ext cx="260604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444752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= lecture colonnaire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221992"/>
            <a:ext cx="777240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249424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97280" y="2221992"/>
            <a:ext cx="16002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2249424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2221992"/>
            <a:ext cx="16002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2788920" y="2249424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events JSON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2221992"/>
            <a:ext cx="187452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2249424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+ Window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2221992"/>
            <a:ext cx="260604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2249424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latence (optim)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026664"/>
            <a:ext cx="77724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054096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97280" y="3026664"/>
            <a:ext cx="16002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43000" y="3054096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3026664"/>
            <a:ext cx="16002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88920" y="3054096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documents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89120" y="3026664"/>
            <a:ext cx="187452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434840" y="3054096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 + NLP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3026664"/>
            <a:ext cx="260604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3054096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termes · 243ms query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831336"/>
            <a:ext cx="777240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3858768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97280" y="3831336"/>
            <a:ext cx="16002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1143000" y="3858768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0" y="3831336"/>
            <a:ext cx="16002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2788920" y="3858768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points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389120" y="3831336"/>
            <a:ext cx="187452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Text 49"/>
          <p:cNvSpPr/>
          <p:nvPr/>
        </p:nvSpPr>
        <p:spPr>
          <a:xfrm>
            <a:off x="4434840" y="3858768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+ Partitioning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09360" y="3831336"/>
            <a:ext cx="260604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Text 51"/>
          <p:cNvSpPr/>
          <p:nvPr/>
        </p:nvSpPr>
        <p:spPr>
          <a:xfrm>
            <a:off x="6355080" y="385876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Sil=0.9797 · −17.8% temps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Labs · 4 pilliers de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l'ingénierie des données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2697480"/>
            <a:ext cx="201168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10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&gt; CSV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2697480"/>
            <a:ext cx="2011680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1760" y="3410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697480"/>
            <a:ext cx="2011680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3410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inversé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2697480"/>
            <a:ext cx="2011680" cy="1417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3410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distribué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3159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commun : Apache Spark 4.0.1  ·  Python 3.10  ·  PySpark ML  ·  Parquet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DE2 – Data Engineering II Labs</dc:title>
  <dc:subject>PptxGenJS Presentation</dc:subject>
  <dc:creator>PptxGenJS</dc:creator>
  <cp:lastModifiedBy>PptxGenJS</cp:lastModifiedBy>
  <cp:revision>1</cp:revision>
  <dcterms:created xsi:type="dcterms:W3CDTF">2026-05-11T14:40:58Z</dcterms:created>
  <dcterms:modified xsi:type="dcterms:W3CDTF">2026-05-11T14:40:58Z</dcterms:modified>
</cp:coreProperties>
</file>