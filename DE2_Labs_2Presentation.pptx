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486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DE2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65760" y="187452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II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5146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Review – Practice &amp; Assignment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3977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  ·  Lab 1  ·  Lab 2  ·  Lab 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0" y="3977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Bibawandaogo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0" y="43708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ESIEE Paris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1920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920240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setup · CSV → Parquet · Execution plans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68880" y="1005840"/>
            <a:ext cx="1920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05840"/>
            <a:ext cx="192024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60320" y="166420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Streaming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237744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· Windowed agg · Parquet sink · Checkpoint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1005840"/>
            <a:ext cx="1920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005840"/>
            <a:ext cx="192024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166420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Processing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63440" y="237744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index · Tokenization · Parquet vs CSV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1005840"/>
            <a:ext cx="19202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75120" y="1005840"/>
            <a:ext cx="192024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0515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66560" y="1664208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(KMeans)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2377440"/>
            <a:ext cx="1737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 · Partitioning strategies · Convergence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 l'environnement Spark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 · Objectif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Valider que Spark fonctionne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un lycéen qui branche son ordi avant de commencer : on vérifie que tout marche avant d'aller plus loin.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08760" y="257860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une session Spark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le moteur de traitement distribué en local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10128" y="2514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61688" y="257860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361688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01568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CSV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01568" y="37490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Charger des données avec un schéma explicite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2514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214616" y="257860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214616" y="25786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54496" y="3246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en Parquet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54496" y="374904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Stocker les données dans un format optimisé et partitionné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 ·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 →  Spark DataFrame  →  Parquet (partitionné)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201168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6916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data/sample.csv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04872" y="2011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606040" y="1691640"/>
            <a:ext cx="201168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6916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SparkSession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local[*]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45152" y="2011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800600" y="1691640"/>
            <a:ext cx="2011680" cy="1005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6916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lignes · 4 cols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39712" y="20116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995160" y="1691640"/>
            <a:ext cx="2011680" cy="10058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169164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partitionné/category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clés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4290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34930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30352" y="4160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lignes CSV chargées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06040" y="34290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79192" y="34930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679192" y="4160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(tech, science, business)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34290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28032" y="34930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828032" y="4160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scan: lecture complète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03720" y="342900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76872" y="3493008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976872" y="41605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scan: lecture colonnaire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 · Résultats &amp; Leçons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9319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Ce qui a fonctionné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Spark version 4.0.1 opérationnel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16712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Lecture CSV avec schéma explicite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76148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Écriture Parquet partitionné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35584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Plan d'exécution différent CSV vs Parquet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95020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Agrégation groupBy + avg par catégorie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960120"/>
            <a:ext cx="4206240" cy="393192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Leçon principale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1572768"/>
            <a:ext cx="38404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est colonnaire 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ne lit que les colonnes nécessaires.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lit TOUT le fichier même si on n'utilise qu'une colonne.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 visible dans le plan d'exécution.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de données en temps réel avec Spark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Objectif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Traiter des événements EN TEMPS RÉEL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un score de match qui se met à jour en direct : on agrège les données au fur et à mesure qu'elles arrivent.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5877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Watermark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 les données tardives jusqu'à X minutes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251460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258775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🪟  Fenêtre temporelle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301752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 les événements par intervalles (10 min, 5 min)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9136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Checkpoint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4343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 l'état → reprise après panne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384048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39136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  Mode Append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4343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N'écrit que les nouvelles lignes → compatible Parquet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Architecture du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69164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4173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(events)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84248" y="1645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48840" y="1371600"/>
            <a:ext cx="169164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4173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58768" y="1645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023360" y="1371600"/>
            <a:ext cx="1691640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14173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33288" y="1645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852160" y="1371600"/>
            <a:ext cx="169164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897880" y="14173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count/avg/min/max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562088" y="164592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680960" y="1371600"/>
            <a:ext cx="1691640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7726680" y="1417320"/>
            <a:ext cx="1600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487168"/>
            <a:ext cx="8595360" cy="5029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253288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Checkpoint actif → Garantit la livraison exactement une fois (exactly-once semantics)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312724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Configurations testées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3566160"/>
            <a:ext cx="123444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5935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554480" y="3566160"/>
            <a:ext cx="160020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2"/>
          <p:cNvSpPr/>
          <p:nvPr/>
        </p:nvSpPr>
        <p:spPr>
          <a:xfrm>
            <a:off x="1600200" y="35935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3566160"/>
            <a:ext cx="160020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3246120" y="35935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37760" y="3566160"/>
            <a:ext cx="160020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5935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75120" y="3566160"/>
            <a:ext cx="1600200" cy="4389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35935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1234440" cy="4389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40507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554480" y="4023360"/>
            <a:ext cx="1600200" cy="4389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4" name="Text 32"/>
          <p:cNvSpPr/>
          <p:nvPr/>
        </p:nvSpPr>
        <p:spPr>
          <a:xfrm>
            <a:off x="1600200" y="40507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00400" y="4023360"/>
            <a:ext cx="1600200" cy="4389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6" name="Text 34"/>
          <p:cNvSpPr/>
          <p:nvPr/>
        </p:nvSpPr>
        <p:spPr>
          <a:xfrm>
            <a:off x="3246120" y="40507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937760" y="4023360"/>
            <a:ext cx="1600200" cy="4389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40507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675120" y="4023360"/>
            <a:ext cx="1600200" cy="4389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0" name="Text 38"/>
          <p:cNvSpPr/>
          <p:nvPr/>
        </p:nvSpPr>
        <p:spPr>
          <a:xfrm>
            <a:off x="6720840" y="40507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plus haute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" y="4480560"/>
            <a:ext cx="1234440" cy="43891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2" name="Text 40"/>
          <p:cNvSpPr/>
          <p:nvPr/>
        </p:nvSpPr>
        <p:spPr>
          <a:xfrm>
            <a:off x="320040" y="450799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Optimisé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554480" y="4480560"/>
            <a:ext cx="1600200" cy="43891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4" name="Text 42"/>
          <p:cNvSpPr/>
          <p:nvPr/>
        </p:nvSpPr>
        <p:spPr>
          <a:xfrm>
            <a:off x="1600200" y="45079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200400" y="4480560"/>
            <a:ext cx="1600200" cy="43891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6" name="Text 44"/>
          <p:cNvSpPr/>
          <p:nvPr/>
        </p:nvSpPr>
        <p:spPr>
          <a:xfrm>
            <a:off x="3246120" y="45079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937760" y="4480560"/>
            <a:ext cx="1600200" cy="43891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48" name="Text 46"/>
          <p:cNvSpPr/>
          <p:nvPr/>
        </p:nvSpPr>
        <p:spPr>
          <a:xfrm>
            <a:off x="4983480" y="45079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675120" y="4480560"/>
            <a:ext cx="1600200" cy="43891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50" name="Text 48"/>
          <p:cNvSpPr/>
          <p:nvPr/>
        </p:nvSpPr>
        <p:spPr>
          <a:xfrm>
            <a:off x="6720840" y="45079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 de latence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Practice vs Assignment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· Track A (Esports)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270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Schema: match_id, match_end_time,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game_type, winning_team, spectators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391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Window: 1 heure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55117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Watermark: 10 minutes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10 fichiers JSON générés (50 events)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5753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Query UI capturée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0873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Metrics: 5 rows input, 2441 ms batch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60120"/>
            <a:ext cx="41148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Generic Events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5270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Schema: event_id, event_time,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event_type, user_id, value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0391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Window: 10 min → 5 min (optimisé)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551176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Watermark: 5 min → 2 min (optimisé)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063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Trigger: 5 sec → 3 sec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3575304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Plan d'exécution sauvegardé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40873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lab1_metrics_log.csv produit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 · Résultats &amp; Problèmes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96596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micro-batches traités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96312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96312" y="960120"/>
            <a:ext cx="19659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2587752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587752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générés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960120"/>
            <a:ext cx="196596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4718304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718304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(optimisé)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57416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57416" y="960120"/>
            <a:ext cx="196596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848856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848856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checkpoints créés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5420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&amp; Solutions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035808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081528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Stream vide au début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308152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Laisser awaitTermination(60) avant stop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694176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73989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Mode 'complete' refusé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0" y="373989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Utiliser 'append' avec watermark + Parquet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352544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439826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UUID non sérialisable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0" y="439826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Conversion str(uuid) avant json.dump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Index · Tokenisation · Stockage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Objectif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Construire un moteur de recherche full-text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Google : pour chercher un mot, on a besoin de savoir dans quels documents il apparaît → c'est l'index inversé.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359152"/>
            <a:ext cx="841248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45059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Inversé = mot → liste de documents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164592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9992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2971800"/>
            <a:ext cx="502920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2377440" y="299923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52360" y="2971800"/>
            <a:ext cx="1097280" cy="43891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0" y="299923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Fréquence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645920" cy="438912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4564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esports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331720" y="3429000"/>
            <a:ext cx="5029200" cy="438912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17" name="Text 15"/>
          <p:cNvSpPr/>
          <p:nvPr/>
        </p:nvSpPr>
        <p:spPr>
          <a:xfrm>
            <a:off x="2377440" y="345643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doc_001, doc_002, doc_003, doc_004, doc_005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452360" y="3429000"/>
            <a:ext cx="1097280" cy="438912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0" y="345643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164592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9136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championship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31720" y="3886200"/>
            <a:ext cx="50292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377440" y="391363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doc_002, doc_004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52360" y="3886200"/>
            <a:ext cx="109728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391363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343400"/>
            <a:ext cx="1645920" cy="438912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3708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331720" y="4343400"/>
            <a:ext cx="5029200" cy="438912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29" name="Text 27"/>
          <p:cNvSpPr/>
          <p:nvPr/>
        </p:nvSpPr>
        <p:spPr>
          <a:xfrm>
            <a:off x="2377440" y="4370832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doc_001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52360" y="4343400"/>
            <a:ext cx="1097280" cy="438912"/>
          </a:xfrm>
          <a:prstGeom prst="rect">
            <a:avLst/>
          </a:prstGeom>
          <a:solidFill>
            <a:srgbClr val="FAF5FF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4370832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Pipeline de traitement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56032" y="1005840"/>
            <a:ext cx="1554480" cy="10972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301752" y="102412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" y="1691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docs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3258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93392" y="1005840"/>
            <a:ext cx="1554480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2039112" y="102412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Ponctuation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39112" y="1691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texte propre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13258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30752" y="1005840"/>
            <a:ext cx="1554480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3776472" y="102412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split(whitespace)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76472" y="1691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[tokens]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03520" y="13258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68112" y="1005840"/>
            <a:ext cx="155448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513832" y="102412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Stop-words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13832" y="1691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mots filtrés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0" y="13258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05472" y="1005840"/>
            <a:ext cx="1554480" cy="10972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7251192" y="1024128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51192" y="1691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collect_list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377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 : Parquet vs CSV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365760" y="2880360"/>
            <a:ext cx="4114800" cy="2011680"/>
          </a:xfrm>
          <a:prstGeom prst="rect">
            <a:avLst/>
          </a:prstGeom>
          <a:solidFill>
            <a:srgbClr val="FAF5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880360"/>
            <a:ext cx="411480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3832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Format binaire colonnaire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Garde le type ARRAY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Taille : 1.51 KB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Lecture rapide par Spark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63440" y="2880360"/>
            <a:ext cx="4114800" cy="201168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2880360"/>
            <a:ext cx="4114800" cy="41148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2926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00600" y="338328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Texte lisible (Excel, éditeur)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doc_ids → string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Taille : 0.57 KB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Portable mais plus lent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Practice vs Assignment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· Le Petit Prince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10 documents (corpus littéraire)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91 termes uniques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129 tokens avant filtrage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6265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0 stop-words (fichiers manquants)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43814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Parquet : 2.10 KB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9136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CSV : 1.62 KB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Latence query : ~58ms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60120"/>
            <a:ext cx="41148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Corpus Esports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15361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 documents (thème Esports)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011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28 termes uniques après filtre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4871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33 tokens filtrés / 44 bruts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96265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56 stop-words définis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43814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Parquet : 1.51 KB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9136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CSV : 0.57 KB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4389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Latence avg : 243ms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 · Résultats &amp; Problèmes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965960" cy="640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termes uniques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96312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96312" y="960120"/>
            <a:ext cx="196596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587752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87752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stop-words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960120"/>
            <a:ext cx="19659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718304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1.51 KB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18304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Parquet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57416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57416" y="960120"/>
            <a:ext cx="196596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848856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243ms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848856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query avg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5420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&amp; Solutions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035808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08152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Array non écrivable en CSV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308152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concat_ws(',', col) pour convertir array → string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694176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73989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Stop-words non chargés (fichiers manquants)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373989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Fallback sur liste hardcodée de 56 mots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352544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439826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Latence première requête ~400ms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0" y="439826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Warm-up + cache : idx.cache().count() avant queries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distribué · Partitioning · Convergence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Objectif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Regrouper automatiquement des données sans étiquettes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6642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classer des joueurs en catégories (support, carry, tank) sans les étiqueter à la main : KMeans trouve les groupes seul.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423160"/>
            <a:ext cx="19659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33272" y="2487168"/>
            <a:ext cx="621792" cy="6217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8" name="Text 6"/>
          <p:cNvSpPr/>
          <p:nvPr/>
        </p:nvSpPr>
        <p:spPr>
          <a:xfrm>
            <a:off x="1033272" y="2487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38912" y="321868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Initialiser k centres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3794760"/>
            <a:ext cx="18196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k-means|| pour éviter les optima locaux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50008" y="288036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496312" y="2423160"/>
            <a:ext cx="19659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63824" y="2487168"/>
            <a:ext cx="621792" cy="6217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3163824" y="2487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569464" y="321868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Assigner chaque point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9464" y="3794760"/>
            <a:ext cx="18196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centre le plus proche (distance euclidienne)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80560" y="288036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26864" y="2423160"/>
            <a:ext cx="19659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94376" y="2487168"/>
            <a:ext cx="621792" cy="6217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5294376" y="2487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700016" y="321868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Recalculer les centres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00016" y="3794760"/>
            <a:ext cx="18196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des points de chaque cluster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611112" y="288036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757416" y="2423160"/>
            <a:ext cx="196596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24928" y="2487168"/>
            <a:ext cx="621792" cy="62179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7424928" y="248716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830568" y="3218688"/>
            <a:ext cx="1819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Répéter jusqu'à convergence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30568" y="3794760"/>
            <a:ext cx="181965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centres &lt; tolérance OU maxIter atteint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Pipeline ML distribué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8138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· Track A Esports : 10 000 points · 5 features (hero stats) · 3 clusters synthétiques bien séparés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783080"/>
            <a:ext cx="1554480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7830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47088" y="2103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011680" y="1783080"/>
            <a:ext cx="1554480" cy="9144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057400" y="17830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84448" y="2103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49040" y="1783080"/>
            <a:ext cx="1554480" cy="9144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17830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21808" y="2103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0" y="1783080"/>
            <a:ext cx="1554480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532120" y="17830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059168" y="210312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23760" y="1783080"/>
            <a:ext cx="1554480" cy="9144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7269480" y="17830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290779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partitionnement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401568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401568"/>
            <a:ext cx="4114800" cy="402336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4472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8 partitions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3886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RoundRobin · Shuffle: ~52 MB · Temps: 145 ms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44568" y="37947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−17.8%  ⬇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3401568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401568"/>
            <a:ext cx="4114800" cy="402336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344728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OPTIMISÉ · 32 partitions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3886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Hash(id) · Shuffle: ~42 MB · Temps: 119 ms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Résultats clustering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91440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24128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Meilleure configuration : KMeans  k=3  ·  Silhouette = 0.9797  ·  Inertia = 739.03  ·  Temps = 5750 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Silhouette par 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801173"/>
            <a:ext cx="731520" cy="929579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94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709733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45920" y="2566163"/>
            <a:ext cx="731520" cy="1164589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1645920" y="3794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45920" y="2474723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2867741"/>
            <a:ext cx="731520" cy="86301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3794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51760" y="2776301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0" y="2871307"/>
            <a:ext cx="731520" cy="859445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3794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2779867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205740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des seeds (k=3)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63440" y="2487168"/>
            <a:ext cx="1298448" cy="40233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52374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89320" y="2487168"/>
            <a:ext cx="1298448" cy="40233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252374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0" y="2487168"/>
            <a:ext cx="1298448" cy="40233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Text 23"/>
          <p:cNvSpPr/>
          <p:nvPr/>
        </p:nvSpPr>
        <p:spPr>
          <a:xfrm>
            <a:off x="7360920" y="252374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(ms)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2907792"/>
            <a:ext cx="1298448" cy="40233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7" name="Text 25"/>
          <p:cNvSpPr/>
          <p:nvPr/>
        </p:nvSpPr>
        <p:spPr>
          <a:xfrm>
            <a:off x="4709160" y="294436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89320" y="2907792"/>
            <a:ext cx="1298448" cy="40233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9" name="Text 27"/>
          <p:cNvSpPr/>
          <p:nvPr/>
        </p:nvSpPr>
        <p:spPr>
          <a:xfrm>
            <a:off x="6035040" y="294436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0.9797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2907792"/>
            <a:ext cx="1298448" cy="40233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1" name="Text 29"/>
          <p:cNvSpPr/>
          <p:nvPr/>
        </p:nvSpPr>
        <p:spPr>
          <a:xfrm>
            <a:off x="7360920" y="2944368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4657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3328416"/>
            <a:ext cx="129844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3364992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89320" y="3328416"/>
            <a:ext cx="129844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0" y="3364992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0.9797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0" y="3328416"/>
            <a:ext cx="129844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7360920" y="3364992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3877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63440" y="3749040"/>
            <a:ext cx="1298448" cy="40233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9" name="Text 37"/>
          <p:cNvSpPr/>
          <p:nvPr/>
        </p:nvSpPr>
        <p:spPr>
          <a:xfrm>
            <a:off x="4709160" y="3785616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989320" y="3749040"/>
            <a:ext cx="1298448" cy="40233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41" name="Text 39"/>
          <p:cNvSpPr/>
          <p:nvPr/>
        </p:nvSpPr>
        <p:spPr>
          <a:xfrm>
            <a:off x="6035040" y="3785616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0.9797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315200" y="3749040"/>
            <a:ext cx="1298448" cy="40233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43" name="Text 41"/>
          <p:cNvSpPr/>
          <p:nvPr/>
        </p:nvSpPr>
        <p:spPr>
          <a:xfrm>
            <a:off x="7360920" y="3785616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3838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63440" y="4169664"/>
            <a:ext cx="129844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709160" y="420624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989320" y="4169664"/>
            <a:ext cx="129844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035040" y="420624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0.9797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315200" y="4169664"/>
            <a:ext cx="1298448" cy="402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7360920" y="4206240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3731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663440" y="4590288"/>
            <a:ext cx="1298448" cy="40233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51" name="Text 49"/>
          <p:cNvSpPr/>
          <p:nvPr/>
        </p:nvSpPr>
        <p:spPr>
          <a:xfrm>
            <a:off x="4709160" y="462686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989320" y="4590288"/>
            <a:ext cx="1298448" cy="40233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53" name="Text 51"/>
          <p:cNvSpPr/>
          <p:nvPr/>
        </p:nvSpPr>
        <p:spPr>
          <a:xfrm>
            <a:off x="6035040" y="462686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0.9797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315200" y="4590288"/>
            <a:ext cx="1298448" cy="402336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55" name="Text 53"/>
          <p:cNvSpPr/>
          <p:nvPr/>
        </p:nvSpPr>
        <p:spPr>
          <a:xfrm>
            <a:off x="7360920" y="4626864"/>
            <a:ext cx="120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3736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663440" y="44622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= 0.00%  ·  Résultats parfaitement stables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Practice vs Assignment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411480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· 5 000 points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5361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Algo: KMeans + BisectingKMeans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 values: 3, 5, 8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Best: KMeans k=3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96265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Silhouette: 0.8234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43814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 seeds (42-46) · CV = 0.13%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9136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Partitions: 8 → 32 (+300%)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389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Speedup: 1.22x (−17.8%)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960120"/>
            <a:ext cx="41148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· 10 000 points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153619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Algo: KMeans uniquement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011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 values: 2, 3, 4, 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4871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Best: KMeans k=3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96265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Silhouette: 0.9797 (!)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43814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5 seeds · Silhouette identique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91363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Partitions: 12 → 32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4389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k=3 converge parfaitement (3 clusters)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 · Résultats &amp; Problèmes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96596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0.9797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96312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96312" y="960120"/>
            <a:ext cx="1965960" cy="640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2587752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−17.8%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87752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d'exécution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26864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960120"/>
            <a:ext cx="196596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718304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−19.2%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18304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réduit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57416" y="960120"/>
            <a:ext cx="196596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57416" y="960120"/>
            <a:ext cx="1965960" cy="640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848856" y="107899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48856" y="175564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stabilité seeds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542032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Problèmes &amp; Solutions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035808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308152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computeCost() introuvable (Spark 4)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308152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Fonction custom calculate_inertia() via RDD.map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3694176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" y="373989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UDT Vector non écrivable en CSV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63440" y="3739896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Écriture en Parquet uniquement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4352544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439826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OutOfMemory sur grands datasets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0" y="4398264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Réduire n_samples ou augmenter driver.memory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· Les 4 Labs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77724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8755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0" y="960120"/>
            <a:ext cx="160020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9875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0" y="960120"/>
            <a:ext cx="160020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2788920" y="98755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960120"/>
            <a:ext cx="187452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98755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960120"/>
            <a:ext cx="2606040" cy="402336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9875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clé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417320"/>
            <a:ext cx="777240" cy="7498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444752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7280" y="1417320"/>
            <a:ext cx="16002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1444752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+ Parquet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1417320"/>
            <a:ext cx="16002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788920" y="1444752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lignes CSV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1417320"/>
            <a:ext cx="187452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434840" y="1444752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+ Explain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1417320"/>
            <a:ext cx="260604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1444752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= lecture colonnaire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221992"/>
            <a:ext cx="777240" cy="7498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2249424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97280" y="2221992"/>
            <a:ext cx="160020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2249424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0" y="2221992"/>
            <a:ext cx="160020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2788920" y="2249424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events JSON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89120" y="2221992"/>
            <a:ext cx="187452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4434840" y="2249424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+ Window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2221992"/>
            <a:ext cx="260604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6355080" y="2249424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−30% latence (optim)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3026664"/>
            <a:ext cx="777240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3054096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097280" y="3026664"/>
            <a:ext cx="16002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1143000" y="3054096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SQL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0" y="3026664"/>
            <a:ext cx="160020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788920" y="3054096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documents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389120" y="3026664"/>
            <a:ext cx="187452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4434840" y="3054096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Index + NLP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3026664"/>
            <a:ext cx="2606040" cy="7498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6355080" y="3054096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termes · 243ms query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3831336"/>
            <a:ext cx="777240" cy="7498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5" name="Text 43"/>
          <p:cNvSpPr/>
          <p:nvPr/>
        </p:nvSpPr>
        <p:spPr>
          <a:xfrm>
            <a:off x="320040" y="3858768"/>
            <a:ext cx="685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097280" y="3831336"/>
            <a:ext cx="160020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7" name="Text 45"/>
          <p:cNvSpPr/>
          <p:nvPr/>
        </p:nvSpPr>
        <p:spPr>
          <a:xfrm>
            <a:off x="1143000" y="3858768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ML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743200" y="3831336"/>
            <a:ext cx="160020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2788920" y="3858768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points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389120" y="3831336"/>
            <a:ext cx="187452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1" name="Text 49"/>
          <p:cNvSpPr/>
          <p:nvPr/>
        </p:nvSpPr>
        <p:spPr>
          <a:xfrm>
            <a:off x="4434840" y="3858768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+ Partitioning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309360" y="3831336"/>
            <a:ext cx="2606040" cy="749808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3" name="Text 51"/>
          <p:cNvSpPr/>
          <p:nvPr/>
        </p:nvSpPr>
        <p:spPr>
          <a:xfrm>
            <a:off x="6355080" y="3858768"/>
            <a:ext cx="2514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Sil=0.9797 · −17.8% temps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Labs · 4 pilliers de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l'ingénierie des données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2697480"/>
            <a:ext cx="2011680" cy="1417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788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41071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Parquet &gt; CSV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2697480"/>
            <a:ext cx="2011680" cy="1417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2788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51760" y="341071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697480"/>
            <a:ext cx="2011680" cy="1417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788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341071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inversé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49440" y="2697480"/>
            <a:ext cx="2011680" cy="1417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0" y="27889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0" y="341071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distribué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315968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 commun : Apache Spark 4.0.1  ·  Python 3.10  ·  PySpark ML  ·  Parquet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DE2 – Data Engineering II Labs</dc:title>
  <dc:subject>PptxGenJS Presentation</dc:subject>
  <dc:creator>PptxGenJS</dc:creator>
  <cp:lastModifiedBy>PptxGenJS</cp:lastModifiedBy>
  <cp:revision>1</cp:revision>
  <dcterms:created xsi:type="dcterms:W3CDTF">2026-05-11T14:41:27Z</dcterms:created>
  <dcterms:modified xsi:type="dcterms:W3CDTF">2026-05-11T14:41:27Z</dcterms:modified>
</cp:coreProperties>
</file>